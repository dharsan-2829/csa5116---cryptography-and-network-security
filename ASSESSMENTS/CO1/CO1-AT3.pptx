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63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263F"/>
                </a:solidFill>
                <a:latin typeface="Calibri"/>
              </a:rPr>
              <a:t>Most common English letters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 (%)</c:v>
                </c:pt>
              </c:strCache>
            </c:strRef>
          </c:tx>
          <c:spPr>
            <a:solidFill>
              <a:srgbClr val="1FA3A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</c:v>
                  </c:pt>
                  <c:pt idx="1">
                    <c:v>T</c:v>
                  </c:pt>
                  <c:pt idx="2">
                    <c:v>A</c:v>
                  </c:pt>
                  <c:pt idx="3">
                    <c:v>O</c:v>
                  </c:pt>
                  <c:pt idx="4">
                    <c:v>I</c:v>
                  </c:pt>
                  <c:pt idx="5">
                    <c:v>N</c:v>
                  </c:pt>
                  <c:pt idx="6">
                    <c:v>S</c:v>
                  </c:pt>
                  <c:pt idx="7">
                    <c:v>H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12.7</c:v>
                </c:pt>
                <c:pt idx="1">
                  <c:v>9.1</c:v>
                </c:pt>
                <c:pt idx="2">
                  <c:v>8.2</c:v>
                </c:pt>
                <c:pt idx="3">
                  <c:v>7.5</c:v>
                </c:pt>
                <c:pt idx="4">
                  <c:v>7</c:v>
                </c:pt>
                <c:pt idx="5">
                  <c:v>6.7</c:v>
                </c:pt>
                <c:pt idx="6">
                  <c:v>6.3</c:v>
                </c:pt>
                <c:pt idx="7">
                  <c:v>6.1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l"/>
        <c:majorGridlines>
          <c:spPr>
            <a:ln w="6350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CO1-AT3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7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22960" cy="73152"/>
          </a:xfrm>
          <a:prstGeom prst="rect">
            <a:avLst/>
          </a:prstGeom>
          <a:solidFill>
            <a:srgbClr val="1FA3A3"/>
          </a:solidFill>
          <a:ln w="12700">
            <a:solidFill>
              <a:srgbClr val="1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Substitution vs Transposition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7FD6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Provides Better Security?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852160" cy="1463040"/>
          </a:xfrm>
          <a:prstGeom prst="rect">
            <a:avLst/>
          </a:prstGeom>
          <a:solidFill>
            <a:srgbClr val="1B3555"/>
          </a:solidFill>
          <a:ln w="12700">
            <a:solidFill>
              <a:srgbClr val="1B35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0632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Dhivyadharsan MS (192511465)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D5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CSA5116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D5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Name: Cryptography and Network Security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A3A3"/>
          </a:solidFill>
          <a:ln w="12700">
            <a:solidFill>
              <a:srgbClr val="1FA3A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CSA5116 · Cryptography and Network Security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887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ciphers rest on two operations: substitution and transposition.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replaces symbols with other symbols; transposition rearranges their positions.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described two goals of a secure cipher: confusion (hide the key-to-ciphertext link) and diffusion (spread plaintext statistics).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which operation alone gives stronger security, and why do modern ciphers use both?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0" y="1188720"/>
            <a:ext cx="2971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1188720"/>
            <a:ext cx="2971800" cy="64008"/>
          </a:xfrm>
          <a:prstGeom prst="rect">
            <a:avLst/>
          </a:prstGeom>
          <a:solidFill>
            <a:srgbClr val="1FA3A3"/>
          </a:solidFill>
          <a:ln w="12700">
            <a:solidFill>
              <a:srgbClr val="1FA3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13441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Substitution → Confusion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6916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WHAT each symbol is.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2834640"/>
            <a:ext cx="2971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2834640"/>
            <a:ext cx="2971800" cy="64008"/>
          </a:xfrm>
          <a:prstGeom prst="rect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52160" y="29900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Transposition → Diffusion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WHERE each symbol is.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A3A3"/>
          </a:solidFill>
          <a:ln w="12700">
            <a:solidFill>
              <a:srgbClr val="1FA3A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Substitution Ciphers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CSA5116 · Cryptography and Network Security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8872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plaintext symbol is replaced by another symbol according to the key.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 cipher: every letter shifts by a fixed amount (only 25 useful keys).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Monoalphabetic cipher: one fixed mapping of the whole alphabet.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Polyalphabetic cipher (Vigenère): a repeating key selects a different shift for each position.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60720" y="1188720"/>
            <a:ext cx="2880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1188720"/>
            <a:ext cx="2880360" cy="64008"/>
          </a:xfrm>
          <a:prstGeom prst="rect">
            <a:avLst/>
          </a:prstGeom>
          <a:solidFill>
            <a:srgbClr val="1FA3A3"/>
          </a:solidFill>
          <a:ln w="12700">
            <a:solidFill>
              <a:srgbClr val="1FA3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0" y="13441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Caesar, shift 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6916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1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KHOOR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34747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letter always maps to the same letter (e.g., L → O).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A3A3"/>
          </a:solidFill>
          <a:ln w="12700">
            <a:solidFill>
              <a:srgbClr val="1FA3A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Substitution: Security Analysis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CSA5116 · Cryptography and Network Security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44805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4480560" cy="64008"/>
          </a:xfrm>
          <a:prstGeom prst="rect">
            <a:avLst/>
          </a:prstGeom>
          <a:solidFill>
            <a:srgbClr val="1FA3A3"/>
          </a:solidFill>
          <a:ln w="12700">
            <a:solidFill>
              <a:srgbClr val="1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2527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459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Monoalphabetic key space is 26! ≈ 4 × 10²⁶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Polyalphabetic ciphers hide single-letter frequencies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Alters every symbol, so it gives confusion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44805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880360"/>
            <a:ext cx="4480560" cy="64008"/>
          </a:xfrm>
          <a:prstGeom prst="rect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035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4290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mapping keeps language frequency patterns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repeating keys reveal their period (Kasiski)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never move, so diffusion is poor</a:t>
            </a:r>
            <a:endParaRPr lang="en-US" sz="12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212080" y="1097280"/>
          <a:ext cx="34290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A3A3"/>
          </a:solidFill>
          <a:ln w="12700">
            <a:solidFill>
              <a:srgbClr val="1FA3A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Transposition Ciphers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CSA5116 · Cryptography and Network Security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8872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letters are kept but their positions are permuted by the key.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fence: write the text in a zig-zag over rails and read rail by rail.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Columnar: write in rows under a keyword, then read columns in key order.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transposition applies the process twice for much stronger mixing.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349240" y="1097280"/>
            <a:ext cx="32918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49240" y="1097280"/>
            <a:ext cx="3291840" cy="64008"/>
          </a:xfrm>
          <a:prstGeom prst="rect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32120" y="12527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 fence, 2 rails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5544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HELLOWORLD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Rails: HLOOL / ELWRD</a:t>
            </a:r>
            <a:endParaRPr lang="en-US" sz="12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HLOOLELWRD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49240" y="2880360"/>
            <a:ext cx="3291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9240" y="2880360"/>
            <a:ext cx="3291840" cy="64008"/>
          </a:xfrm>
          <a:prstGeom prst="rect">
            <a:avLst/>
          </a:prstGeom>
          <a:solidFill>
            <a:srgbClr val="1FA3A3"/>
          </a:solidFill>
          <a:ln w="12700">
            <a:solidFill>
              <a:srgbClr val="1FA3A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32120" y="30358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Columnar, key 3-1-4-2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33375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ATTACKATDAWN → rows ATTA / CKAT / DAWN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columns 1,2,3,4 by key order</a:t>
            </a:r>
            <a:endParaRPr lang="en-US" sz="12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TKAATNACDTAW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A3A3"/>
          </a:solidFill>
          <a:ln w="12700">
            <a:solidFill>
              <a:srgbClr val="1FA3A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Transposition: Security Analysis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CSA5116 · Cryptography and Network Security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44805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4480560" cy="64008"/>
          </a:xfrm>
          <a:prstGeom prst="rect">
            <a:avLst/>
          </a:prstGeom>
          <a:solidFill>
            <a:srgbClr val="1FA3A3"/>
          </a:solidFill>
          <a:ln w="12700">
            <a:solidFill>
              <a:srgbClr val="1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2527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459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 plaintext patterns across the message (diffusion)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space grows with block length (n! orderings)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rounds make anagramming very hard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44805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880360"/>
            <a:ext cx="4480560" cy="64008"/>
          </a:xfrm>
          <a:prstGeom prst="rect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035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4290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frequencies stay exactly the same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itself as a transposition cipher at once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Known-plaintext fragments reveal the permutation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212080" y="1097280"/>
            <a:ext cx="34290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1097280"/>
            <a:ext cx="3429000" cy="64008"/>
          </a:xfrm>
          <a:prstGeom prst="rect">
            <a:avLst/>
          </a:prstGeom>
          <a:solidFill>
            <a:srgbClr val="1FA3A3"/>
          </a:solidFill>
          <a:ln w="12700">
            <a:solidFill>
              <a:srgbClr val="1FA3A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94960" y="12527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letters, new order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160020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HELLOWORLD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HLOOLELWRD</a:t>
            </a:r>
            <a:endParaRPr lang="en-US" sz="1100" dirty="0"/>
          </a:p>
          <a:p>
            <a:pPr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contain H×1, E×1, L×3, O×2, W×1, R×1, D×1, so frequency analysis shows the text is only scrambled.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A3A3"/>
          </a:solidFill>
          <a:ln w="12700">
            <a:solidFill>
              <a:srgbClr val="1FA3A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Comparison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CSA5116 · Cryptography and Network Security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108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Transposition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 symbols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Rearranges positions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provided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Confusion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Letter frequencies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Altered (pattern kept if monoalphabetic)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Preserved exactly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large (26! for monoalphabetic)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Grows with block length (n!)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attack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analysis, Kasiski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Anagramming, column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alone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Breakable by statistics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Breakable by pattern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02920" y="41148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secure alone; each covers the other’s weakness.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A3A3"/>
          </a:solidFill>
          <a:ln w="12700">
            <a:solidFill>
              <a:srgbClr val="1FA3A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Each Cipher Is Attacked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CSA5116 · Cryptography and Network Security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39776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3977640" cy="64008"/>
          </a:xfrm>
          <a:prstGeom prst="rect">
            <a:avLst/>
          </a:prstGeom>
          <a:solidFill>
            <a:srgbClr val="1FA3A3"/>
          </a:solidFill>
          <a:ln w="12700">
            <a:solidFill>
              <a:srgbClr val="1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25272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Breaking substitution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45920"/>
            <a:ext cx="3611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frequency of every ciphertext letter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most frequent ones to E, T, A, 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common pairs such as TH and HE to confirm guesses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Vigenère, find the key length with Kasiski, then solve each shift separately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39776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97280"/>
            <a:ext cx="3977640" cy="64008"/>
          </a:xfrm>
          <a:prstGeom prst="rect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25272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Breaking transposition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645920"/>
            <a:ext cx="3611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letter frequencies match the language, which shows only order changed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the number of columns or rails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Rearrange pieces (anagramming) until words appear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known or probable word to fix the permutation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A3A3"/>
          </a:solidFill>
          <a:ln w="12700">
            <a:solidFill>
              <a:srgbClr val="1FA3A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of Both: Product Ciphers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CSA5116 · Cryptography and Network Security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371600" cy="822960"/>
          </a:xfrm>
          <a:prstGeom prst="rect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188720"/>
            <a:ext cx="13716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11096" y="1600200"/>
            <a:ext cx="246888" cy="0"/>
          </a:xfrm>
          <a:prstGeom prst="line">
            <a:avLst/>
          </a:prstGeom>
          <a:noFill/>
          <a:ln w="2222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94560" y="1188720"/>
            <a:ext cx="1371600" cy="822960"/>
          </a:xfrm>
          <a:prstGeom prst="rect">
            <a:avLst/>
          </a:prstGeom>
          <a:solidFill>
            <a:srgbClr val="1FA3A3"/>
          </a:solidFill>
          <a:ln w="12700">
            <a:solidFill>
              <a:srgbClr val="1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94560" y="1188720"/>
            <a:ext cx="13716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02736" y="1600200"/>
            <a:ext cx="246888" cy="0"/>
          </a:xfrm>
          <a:prstGeom prst="line">
            <a:avLst/>
          </a:prstGeom>
          <a:noFill/>
          <a:ln w="2222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86200" y="1188720"/>
            <a:ext cx="1371600" cy="822960"/>
          </a:xfrm>
          <a:prstGeom prst="rect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86200" y="1188720"/>
            <a:ext cx="13716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94376" y="1600200"/>
            <a:ext cx="246888" cy="0"/>
          </a:xfrm>
          <a:prstGeom prst="line">
            <a:avLst/>
          </a:prstGeom>
          <a:noFill/>
          <a:ln w="2222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577840" y="1188720"/>
            <a:ext cx="1371600" cy="822960"/>
          </a:xfrm>
          <a:prstGeom prst="rect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77840" y="1188720"/>
            <a:ext cx="13716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n rounds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86016" y="1600200"/>
            <a:ext cx="246888" cy="0"/>
          </a:xfrm>
          <a:prstGeom prst="line">
            <a:avLst/>
          </a:prstGeom>
          <a:noFill/>
          <a:ln w="2222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69480" y="1188720"/>
            <a:ext cx="1371600" cy="822960"/>
          </a:xfrm>
          <a:prstGeom prst="rect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69480" y="1188720"/>
            <a:ext cx="13716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2468880"/>
            <a:ext cx="8138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substitution (confusion) and permutation (diffusion) is called a substitution-permutation network.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uses S-boxes and permutations over 16 rounds.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uses SubBytes for substitution and ShiftRows and MixColumns for diffusion.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weakness is covered: frequencies are hidden by substitution and patterns are spread by permutation.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73152"/>
          </a:xfrm>
          <a:prstGeom prst="rect">
            <a:avLst/>
          </a:prstGeom>
          <a:solidFill>
            <a:srgbClr val="1FA3A3"/>
          </a:solidFill>
          <a:ln w="12700">
            <a:solidFill>
              <a:srgbClr val="1FA3A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alone has a bigger key space, but frequency analysis defeats it.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Transposition alone preserves letter statistics, so it is easy to identify and attack.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combine them in product ciphers; repeated substitution and permutation rounds are the basis of DES and AES.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7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neither wins alone; substitution is usually the stronger single step, but real security needs both.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Dhivyadharsan MS (192511465)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Substitution vs Transposition: Which Provides Better Security?</dc:title>
  <dc:subject>PptxGenJS Presentation</dc:subject>
  <dc:creator>Dhivyadharsan MS</dc:creator>
  <cp:lastModifiedBy>Dhivyadharsan MS</cp:lastModifiedBy>
  <cp:revision>1</cp:revision>
  <dcterms:created xsi:type="dcterms:W3CDTF">2026-10-08T03:17:20Z</dcterms:created>
  <dcterms:modified xsi:type="dcterms:W3CDTF">2026-10-08T03:17:20Z</dcterms:modified>
</cp:coreProperties>
</file>